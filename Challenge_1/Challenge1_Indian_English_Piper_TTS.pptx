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114800" y="3657600"/>
            <a:ext cx="6400800" cy="6400800"/>
          </a:xfrm>
          <a:prstGeom prst="ellipse">
            <a:avLst/>
          </a:prstGeom>
          <a:solidFill>
            <a:srgbClr val="00F0FF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2743200"/>
            <a:ext cx="5486400" cy="5486400"/>
          </a:xfrm>
          <a:prstGeom prst="ellipse">
            <a:avLst/>
          </a:prstGeom>
          <a:solidFill>
            <a:srgbClr val="7000FF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5029200"/>
            <a:ext cx="4572000" cy="4572000"/>
          </a:xfrm>
          <a:prstGeom prst="ellipse">
            <a:avLst/>
          </a:prstGeom>
          <a:solidFill>
            <a:srgbClr val="FF4757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095847" cy="50292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847" y="0"/>
            <a:ext cx="6095847" cy="50292"/>
          </a:xfrm>
          <a:prstGeom prst="rect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10047" y="0"/>
            <a:ext cx="1371600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554480"/>
            <a:ext cx="94457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00F0FF"/>
                </a:solidFill>
              </a:rPr>
              <a:t>CTO HACKATHON  ·  CHALLENGE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Indian English Voice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63240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8B5CF6"/>
                </a:solidFill>
              </a:rPr>
              <a:t>for Piper TTS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977639"/>
            <a:ext cx="94457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94A3B8"/>
                </a:solidFill>
              </a:rPr>
              <a:t>A complete technical approach — from phonemes to a browser-ready neural voice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7191" y="480060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00282A"/>
          </a:solidFill>
          <a:ln w="12700">
            <a:solidFill>
              <a:srgbClr val="00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0F0FF"/>
                </a:solidFill>
              </a:rPr>
              <a:t>Piper TTS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21127" y="480060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170F29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8B5CF6"/>
                </a:solidFill>
              </a:rPr>
              <a:t>eSpeak-ng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5063" y="480060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082319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34D399"/>
                </a:solidFill>
              </a:rPr>
              <a:t>VITS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8999" y="480060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291F06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BBF24"/>
                </a:solidFill>
              </a:rPr>
              <a:t>ONNX Runtime Web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42935" y="480060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091F29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38BDF8"/>
                </a:solidFill>
              </a:rPr>
              <a:t>Fine-Tuning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16871" y="480060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270C19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EC4899"/>
                </a:solidFill>
              </a:rPr>
              <a:t>100% Client-Side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989320"/>
            <a:ext cx="103601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Piper TTS  +  eSpeak-ng  —  open source, on-device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114800" y="3657600"/>
            <a:ext cx="6400800" cy="6400800"/>
          </a:xfrm>
          <a:prstGeom prst="ellipse">
            <a:avLst/>
          </a:prstGeom>
          <a:solidFill>
            <a:srgbClr val="00F0FF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2743200"/>
            <a:ext cx="5486400" cy="5486400"/>
          </a:xfrm>
          <a:prstGeom prst="ellipse">
            <a:avLst/>
          </a:prstGeom>
          <a:solidFill>
            <a:srgbClr val="7000FF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5029200"/>
            <a:ext cx="4572000" cy="4572000"/>
          </a:xfrm>
          <a:prstGeom prst="ellipse">
            <a:avLst/>
          </a:prstGeom>
          <a:solidFill>
            <a:srgbClr val="FF4757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095847" cy="50292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847" y="0"/>
            <a:ext cx="6095847" cy="50292"/>
          </a:xfrm>
          <a:prstGeom prst="rect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10047" y="0"/>
            <a:ext cx="1371600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0F0FF"/>
                </a:solidFill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Understandable — but not truly Indian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</a:rPr>
              <a:t>Today's voice is clear, yet it doesn't sound authentically Indian English.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81328"/>
            <a:ext cx="11183112" cy="177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737360"/>
            <a:ext cx="5486400" cy="19659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737360"/>
            <a:ext cx="54864" cy="19659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1874520"/>
            <a:ext cx="51755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The problem 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2304288"/>
            <a:ext cx="5102352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Voice is clear but carries a US / UK accent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Numbers, names and loanwords sound wrong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“Lakh / crore”, “Aadhaar”, Indian names misread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737360"/>
            <a:ext cx="5486400" cy="19659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1737360"/>
            <a:ext cx="54864" cy="19659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1874520"/>
            <a:ext cx="51755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What we want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304288"/>
            <a:ext cx="5102352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A natural Indian-English voice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Right sounds, rhythm and intonation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Clear, human, and locally recognisable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886200"/>
            <a:ext cx="5486400" cy="19202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00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886200"/>
            <a:ext cx="54864" cy="192024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" y="4023360"/>
            <a:ext cx="51755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F0FF"/>
                </a:solidFill>
              </a:rPr>
              <a:t>The hard constraint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4453128"/>
            <a:ext cx="510235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Must run 100% in the browser — no server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Low latency, works offline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Small enough to download quickly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3886200"/>
            <a:ext cx="5486400" cy="19202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9632" y="3886200"/>
            <a:ext cx="54864" cy="19202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4023360"/>
            <a:ext cx="51755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The toolkit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4453128"/>
            <a:ext cx="510235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8B5CF6"/>
                </a:solidFill>
              </a:rPr>
              <a:t>•  Piper TTS </a:t>
            </a:r>
            <a:r>
              <a:rPr sz="1050">
                <a:solidFill>
                  <a:srgbClr val="94A3B8"/>
                </a:solidFill>
              </a:rPr>
              <a:t>— the neural voice engine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8B5CF6"/>
                </a:solidFill>
              </a:rPr>
              <a:t>•  eSpeak-ng </a:t>
            </a:r>
            <a:r>
              <a:rPr sz="1050">
                <a:solidFill>
                  <a:srgbClr val="94A3B8"/>
                </a:solidFill>
              </a:rPr>
              <a:t>— turns text into phonemes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8B5CF6"/>
                </a:solidFill>
              </a:rPr>
              <a:t>•  Both open source, both run on-device</a:t>
            </a:r>
            <a:r>
              <a:rPr sz="1050">
                <a:solidFill>
                  <a:srgbClr val="94A3B8"/>
                </a:solidFill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Indian English Voice for Piper TTS  ·  CTO Hackathon — Challenge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114800" y="3657600"/>
            <a:ext cx="6400800" cy="6400800"/>
          </a:xfrm>
          <a:prstGeom prst="ellipse">
            <a:avLst/>
          </a:prstGeom>
          <a:solidFill>
            <a:srgbClr val="00F0FF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2743200"/>
            <a:ext cx="5486400" cy="5486400"/>
          </a:xfrm>
          <a:prstGeom prst="ellipse">
            <a:avLst/>
          </a:prstGeom>
          <a:solidFill>
            <a:srgbClr val="7000FF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5029200"/>
            <a:ext cx="4572000" cy="4572000"/>
          </a:xfrm>
          <a:prstGeom prst="ellipse">
            <a:avLst/>
          </a:prstGeom>
          <a:solidFill>
            <a:srgbClr val="FF4757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095847" cy="50292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847" y="0"/>
            <a:ext cx="6095847" cy="50292"/>
          </a:xfrm>
          <a:prstGeom prst="rect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10047" y="0"/>
            <a:ext cx="1371600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0F0FF"/>
                </a:solidFill>
              </a:rPr>
              <a:t>THE CORE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Speech happens in two stages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</a:rPr>
              <a:t>Understand this split and every design decision follows.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81328"/>
            <a:ext cx="11183112" cy="177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783080"/>
            <a:ext cx="5486400" cy="31089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00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783080"/>
            <a:ext cx="54864" cy="310896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1920240"/>
            <a:ext cx="51755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F0FF"/>
                </a:solidFill>
              </a:rPr>
              <a:t>1 · eSpeak-ng  —  “the script”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2350008"/>
            <a:ext cx="5102352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Decides WHICH sounds to make (the phonemes)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Rule-based, tiny, and fast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Turns letters into pronunciation symbols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Example: “crore” → /kroːr/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783080"/>
            <a:ext cx="5486400" cy="31089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1783080"/>
            <a:ext cx="54864" cy="31089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1920240"/>
            <a:ext cx="51755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2 · VITS neural model  —  “the performance”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350008"/>
            <a:ext cx="5102352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Decides HOW those sounds are voiced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Controls accent, pitch, rhythm, timbre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Learns the Indian voice from real recordings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This is where the accent truly lives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74920"/>
            <a:ext cx="11091672" cy="566928"/>
          </a:xfrm>
          <a:prstGeom prst="roundRect">
            <a:avLst>
              <a:gd name="adj" fmla="val 20000"/>
            </a:avLst>
          </a:prstGeom>
          <a:solidFill>
            <a:srgbClr val="071E15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74920"/>
            <a:ext cx="106344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Indian English differs in BOTH stages — so our solution addresses both.  Think of an actor (VITS) performing a script (eSpeak-ng).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Indian English Voice for Piper TTS  ·  CTO Hackathon — Challenge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114800" y="3657600"/>
            <a:ext cx="6400800" cy="6400800"/>
          </a:xfrm>
          <a:prstGeom prst="ellipse">
            <a:avLst/>
          </a:prstGeom>
          <a:solidFill>
            <a:srgbClr val="00F0FF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2743200"/>
            <a:ext cx="5486400" cy="5486400"/>
          </a:xfrm>
          <a:prstGeom prst="ellipse">
            <a:avLst/>
          </a:prstGeom>
          <a:solidFill>
            <a:srgbClr val="7000FF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5029200"/>
            <a:ext cx="4572000" cy="4572000"/>
          </a:xfrm>
          <a:prstGeom prst="ellipse">
            <a:avLst/>
          </a:prstGeom>
          <a:solidFill>
            <a:srgbClr val="FF4757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095847" cy="50292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847" y="0"/>
            <a:ext cx="6095847" cy="50292"/>
          </a:xfrm>
          <a:prstGeom prst="rect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10047" y="0"/>
            <a:ext cx="1371600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0F0FF"/>
                </a:solidFill>
              </a:rPr>
              <a:t>TASK 1 · PIPELINE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From text to voice, step by step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11183112" cy="177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965960"/>
            <a:ext cx="1852574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093976"/>
            <a:ext cx="176113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Input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176113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</a:rPr>
              <a:t>“150 crore”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1214" y="1965960"/>
            <a:ext cx="457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58414" y="1965960"/>
            <a:ext cx="1852574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5875">
            <a:solidFill>
              <a:srgbClr val="00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04134" y="2093976"/>
            <a:ext cx="176113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eSpeak-ng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4134" y="2478024"/>
            <a:ext cx="176113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00F0FF"/>
                </a:solidFill>
              </a:rPr>
              <a:t>text → phonemes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0988" y="1965960"/>
            <a:ext cx="457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68188" y="1965960"/>
            <a:ext cx="1852574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3908" y="2093976"/>
            <a:ext cx="176113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Phoneme → 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3908" y="2478024"/>
            <a:ext cx="176113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38BDF8"/>
                </a:solidFill>
              </a:rPr>
              <a:t>sounds → numbers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0762" y="1965960"/>
            <a:ext cx="457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77962" y="1965960"/>
            <a:ext cx="1852574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3682" y="2093976"/>
            <a:ext cx="176113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VITS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3682" y="2478024"/>
            <a:ext cx="176113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8B5CF6"/>
                </a:solidFill>
              </a:rPr>
              <a:t>numbers → audio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30536" y="1965960"/>
            <a:ext cx="457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87736" y="1965960"/>
            <a:ext cx="1852574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33456" y="2093976"/>
            <a:ext cx="176113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Waveform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33456" y="2478024"/>
            <a:ext cx="176113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34D399"/>
                </a:solidFill>
              </a:rPr>
              <a:t>you hear it 🔊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291840"/>
            <a:ext cx="5486400" cy="16002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00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3291840"/>
            <a:ext cx="54864" cy="160020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" y="3429000"/>
            <a:ext cx="51755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F0FF"/>
                </a:solidFill>
              </a:rPr>
              <a:t>Training (build the voice)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" y="3858768"/>
            <a:ext cx="5102352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Feed phonemes + real audio to VITS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The model learns to map sounds → voice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2" y="3291840"/>
            <a:ext cx="5486400" cy="16002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9632" y="3291840"/>
            <a:ext cx="54864" cy="1600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3429000"/>
            <a:ext cx="51755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Inference (use the voice)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3858768"/>
            <a:ext cx="5102352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Same steps run live in the browser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eSpeak-ng (WASM) → VITS (ONNX) → speaker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074920"/>
            <a:ext cx="11091672" cy="566928"/>
          </a:xfrm>
          <a:prstGeom prst="roundRect">
            <a:avLst>
              <a:gd name="adj" fmla="val 20000"/>
            </a:avLst>
          </a:prstGeom>
          <a:solidFill>
            <a:srgbClr val="231B05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074920"/>
            <a:ext cx="106344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The golden rule: phonemization at inference must EXACTLY match training — same voice, same dictionary — or the model hears sounds it never learned.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Indian English Voice for Piper TTS  ·  CTO Hackathon — Challenge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114800" y="3657600"/>
            <a:ext cx="6400800" cy="6400800"/>
          </a:xfrm>
          <a:prstGeom prst="ellipse">
            <a:avLst/>
          </a:prstGeom>
          <a:solidFill>
            <a:srgbClr val="00F0FF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2743200"/>
            <a:ext cx="5486400" cy="5486400"/>
          </a:xfrm>
          <a:prstGeom prst="ellipse">
            <a:avLst/>
          </a:prstGeom>
          <a:solidFill>
            <a:srgbClr val="7000FF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5029200"/>
            <a:ext cx="4572000" cy="4572000"/>
          </a:xfrm>
          <a:prstGeom prst="ellipse">
            <a:avLst/>
          </a:prstGeom>
          <a:solidFill>
            <a:srgbClr val="FF4757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095847" cy="50292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847" y="0"/>
            <a:ext cx="6095847" cy="50292"/>
          </a:xfrm>
          <a:prstGeom prst="rect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10047" y="0"/>
            <a:ext cx="1371600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0F0FF"/>
                </a:solidFill>
              </a:rPr>
              <a:t>TASK 1 · WHAT DRIVES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Three levers of quality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11183112" cy="177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783080"/>
            <a:ext cx="3611880" cy="37947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00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783080"/>
            <a:ext cx="54864" cy="379476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1920240"/>
            <a:ext cx="33009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F0FF"/>
                </a:solidFill>
              </a:rPr>
              <a:t>Pronunciation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2350008"/>
            <a:ext cx="3227832" cy="313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0F0FF"/>
                </a:solidFill>
              </a:rPr>
              <a:t>•  Owned by eSpeak-ng</a:t>
            </a:r>
            <a:r>
              <a:rPr sz="1050">
                <a:solidFill>
                  <a:srgbClr val="94A3B8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The lexicon + letter-to-sound rules pick the phonemes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Wrong phoneme → the model faithfully says the wrong sound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Fix: dictionary entries for Indian words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88536" y="1783080"/>
            <a:ext cx="3611880" cy="37947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88536" y="1783080"/>
            <a:ext cx="54864" cy="37947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1920240"/>
            <a:ext cx="33009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Accent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2350008"/>
            <a:ext cx="3227832" cy="313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8B5CF6"/>
                </a:solidFill>
              </a:rPr>
              <a:t>•  Owned by VITS</a:t>
            </a:r>
            <a:r>
              <a:rPr sz="1050">
                <a:solidFill>
                  <a:srgbClr val="94A3B8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Duration + pitch predictors learn Indian rhythm &amp; intonation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Syllable-timed cadence, retroflex ‘t’/‘d’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Fix: fine-tune on Indian speech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1783080"/>
            <a:ext cx="3611880" cy="37947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4152" y="1783080"/>
            <a:ext cx="54864" cy="37947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1920240"/>
            <a:ext cx="33009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Naturalness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2350008"/>
            <a:ext cx="3227832" cy="3136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34D399"/>
                </a:solidFill>
              </a:rPr>
              <a:t>•  Owned by VITS</a:t>
            </a:r>
            <a:r>
              <a:rPr sz="1050">
                <a:solidFill>
                  <a:srgbClr val="94A3B8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HiFi-GAN vocoder turns features into a real waveform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Normalizing flows add human variation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Higher sample rate = richer audio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Indian English Voice for Piper TTS  ·  CTO Hackathon — Challenge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114800" y="3657600"/>
            <a:ext cx="6400800" cy="6400800"/>
          </a:xfrm>
          <a:prstGeom prst="ellipse">
            <a:avLst/>
          </a:prstGeom>
          <a:solidFill>
            <a:srgbClr val="00F0FF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2743200"/>
            <a:ext cx="5486400" cy="5486400"/>
          </a:xfrm>
          <a:prstGeom prst="ellipse">
            <a:avLst/>
          </a:prstGeom>
          <a:solidFill>
            <a:srgbClr val="7000FF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5029200"/>
            <a:ext cx="4572000" cy="4572000"/>
          </a:xfrm>
          <a:prstGeom prst="ellipse">
            <a:avLst/>
          </a:prstGeom>
          <a:solidFill>
            <a:srgbClr val="FF4757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095847" cy="50292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847" y="0"/>
            <a:ext cx="6095847" cy="50292"/>
          </a:xfrm>
          <a:prstGeom prst="rect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10047" y="0"/>
            <a:ext cx="1371600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0F0FF"/>
                </a:solidFill>
              </a:rPr>
              <a:t>THE 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There is no “Indian English” in eSpeak-ng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</a:rPr>
              <a:t>A technical judge will check this — so we turn it into a strength.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81328"/>
            <a:ext cx="11183112" cy="177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783080"/>
            <a:ext cx="5486400" cy="31089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783080"/>
            <a:ext cx="54864" cy="31089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1920240"/>
            <a:ext cx="51755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What eSpeak-ng actually ships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2350008"/>
            <a:ext cx="5102352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en-us  —  American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en  —  British (default)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en-029  —  Caribbean (NOT Indian)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a few UK regionals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✖  No ‘en-in’.  ‘-v en-in’ simply fails.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783080"/>
            <a:ext cx="5486400" cy="31089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1783080"/>
            <a:ext cx="54864" cy="31089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1920240"/>
            <a:ext cx="51755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So how do we get the accent?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350008"/>
            <a:ext cx="5102352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We don't rely on eSpeak for it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Phonemize with standard en-us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Let the NEURAL model learn the Indian accent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…from real Indian-English recordings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74920"/>
            <a:ext cx="11091672" cy="566928"/>
          </a:xfrm>
          <a:prstGeom prst="roundRect">
            <a:avLst>
              <a:gd name="adj" fmla="val 20000"/>
            </a:avLst>
          </a:prstGeom>
          <a:solidFill>
            <a:srgbClr val="002224"/>
          </a:solidFill>
          <a:ln w="12700">
            <a:solidFill>
              <a:srgbClr val="00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74920"/>
            <a:ext cx="106344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Naming this gap — and solving it correctly — is exactly the “deep understanding” the challenge rewards.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Indian English Voice for Piper TTS  ·  CTO Hackathon — Challenge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114800" y="3657600"/>
            <a:ext cx="6400800" cy="6400800"/>
          </a:xfrm>
          <a:prstGeom prst="ellipse">
            <a:avLst/>
          </a:prstGeom>
          <a:solidFill>
            <a:srgbClr val="00F0FF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2743200"/>
            <a:ext cx="5486400" cy="5486400"/>
          </a:xfrm>
          <a:prstGeom prst="ellipse">
            <a:avLst/>
          </a:prstGeom>
          <a:solidFill>
            <a:srgbClr val="7000FF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5029200"/>
            <a:ext cx="4572000" cy="4572000"/>
          </a:xfrm>
          <a:prstGeom prst="ellipse">
            <a:avLst/>
          </a:prstGeom>
          <a:solidFill>
            <a:srgbClr val="FF4757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095847" cy="50292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847" y="0"/>
            <a:ext cx="6095847" cy="50292"/>
          </a:xfrm>
          <a:prstGeom prst="rect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10047" y="0"/>
            <a:ext cx="1371600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0F0FF"/>
                </a:solidFill>
              </a:rPr>
              <a:t>OUR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Two ways to get the accent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11183112" cy="177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783080"/>
            <a:ext cx="5486400" cy="31089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783080"/>
            <a:ext cx="54864" cy="31089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1920240"/>
            <a:ext cx="51755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Path A  —  Acoustic  (Recommended)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2350008"/>
            <a:ext cx="5102352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Phonemize with the stock en-us voice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The neural model learns the accent from data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Simple, robust, no eSpeak surgery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Nothing extra to ship to the browser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783080"/>
            <a:ext cx="5486400" cy="31089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1783080"/>
            <a:ext cx="54864" cy="31089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920240"/>
            <a:ext cx="51755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Path B  —  Custom eSpeak  (Advanced)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350008"/>
            <a:ext cx="5102352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Author Indian rules so eSpeak emits retroflex sounds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Add a dictionary for names &amp; loanwords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Higher fidelity, but more engineering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Must ship the custom data in the browser too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74920"/>
            <a:ext cx="11091672" cy="566928"/>
          </a:xfrm>
          <a:prstGeom prst="roundRect">
            <a:avLst>
              <a:gd name="adj" fmla="val 20000"/>
            </a:avLst>
          </a:prstGeom>
          <a:solidFill>
            <a:srgbClr val="002224"/>
          </a:solidFill>
          <a:ln w="12700">
            <a:solidFill>
              <a:srgbClr val="00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074920"/>
            <a:ext cx="106344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Recommendation: start with Path A. Layer in a custom loanword dictionary (high value, low risk) before full retroflex rules.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Indian English Voice for Piper TTS  ·  CTO Hackathon — Challenge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114800" y="3657600"/>
            <a:ext cx="6400800" cy="6400800"/>
          </a:xfrm>
          <a:prstGeom prst="ellipse">
            <a:avLst/>
          </a:prstGeom>
          <a:solidFill>
            <a:srgbClr val="00F0FF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2743200"/>
            <a:ext cx="5486400" cy="5486400"/>
          </a:xfrm>
          <a:prstGeom prst="ellipse">
            <a:avLst/>
          </a:prstGeom>
          <a:solidFill>
            <a:srgbClr val="7000FF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5029200"/>
            <a:ext cx="4572000" cy="4572000"/>
          </a:xfrm>
          <a:prstGeom prst="ellipse">
            <a:avLst/>
          </a:prstGeom>
          <a:solidFill>
            <a:srgbClr val="FF4757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095847" cy="50292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847" y="0"/>
            <a:ext cx="6095847" cy="50292"/>
          </a:xfrm>
          <a:prstGeom prst="rect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10047" y="0"/>
            <a:ext cx="1371600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0F0FF"/>
                </a:solidFill>
              </a:rPr>
              <a:t>TASK 2 · VOICE DEVELOPMENT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Data: the ceiling on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</a:rPr>
              <a:t>No amount of training fixes noisy or inconsistent audio.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81328"/>
            <a:ext cx="11183112" cy="177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73736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00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737360"/>
            <a:ext cx="54864" cy="228600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1874520"/>
            <a:ext cx="51755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F0FF"/>
                </a:solidFill>
              </a:rPr>
              <a:t>Primary  —  IndicTTS (IIT Madras)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2304288"/>
            <a:ext cx="5102352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Studio-recorded, single speaker, very clean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Phonetically balanced for speech synthesis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Best for a natural single-speaker voice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Available for research &amp; development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73736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1737360"/>
            <a:ext cx="54864" cy="2286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1874520"/>
            <a:ext cx="51755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Alternative  —  Common Voice (India)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304288"/>
            <a:ext cx="5102352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Many speakers, realistic urban accents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Permissive CC0 license — safe for commercial use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Noisier → needs heavier cleaning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Best when speaker variety matters most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160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preparation pipeline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26280"/>
            <a:ext cx="2430018" cy="86868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654296"/>
            <a:ext cx="23385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Resample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038344"/>
            <a:ext cx="233857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38BDF8"/>
                </a:solidFill>
              </a:rPr>
              <a:t>16 / 22.05 kHz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8658" y="4526280"/>
            <a:ext cx="4572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35858" y="4526280"/>
            <a:ext cx="2430018" cy="86868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81578" y="4654296"/>
            <a:ext cx="23385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Normalize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81578" y="5038344"/>
            <a:ext cx="233857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34D399"/>
                </a:solidFill>
              </a:rPr>
              <a:t>even loudness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65876" y="4526280"/>
            <a:ext cx="4572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23076" y="4526280"/>
            <a:ext cx="2430018" cy="86868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8796" y="4654296"/>
            <a:ext cx="23385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Trim silence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8796" y="5038344"/>
            <a:ext cx="233857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FBBF24"/>
                </a:solidFill>
              </a:rPr>
              <a:t>clean edges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53094" y="4526280"/>
            <a:ext cx="4572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10294" y="4526280"/>
            <a:ext cx="2430018" cy="86868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5875">
            <a:solidFill>
              <a:srgbClr val="00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56014" y="4654296"/>
            <a:ext cx="23385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Normalize 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6014" y="5038344"/>
            <a:ext cx="233857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00F0FF"/>
                </a:solidFill>
              </a:rPr>
              <a:t>1,50,000 → ‘one lakh…’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Indian English Voice for Piper TTS  ·  CTO Hackathon — Challenge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114800" y="3657600"/>
            <a:ext cx="6400800" cy="6400800"/>
          </a:xfrm>
          <a:prstGeom prst="ellipse">
            <a:avLst/>
          </a:prstGeom>
          <a:solidFill>
            <a:srgbClr val="00F0FF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2743200"/>
            <a:ext cx="5486400" cy="5486400"/>
          </a:xfrm>
          <a:prstGeom prst="ellipse">
            <a:avLst/>
          </a:prstGeom>
          <a:solidFill>
            <a:srgbClr val="7000FF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5029200"/>
            <a:ext cx="4572000" cy="4572000"/>
          </a:xfrm>
          <a:prstGeom prst="ellipse">
            <a:avLst/>
          </a:prstGeom>
          <a:solidFill>
            <a:srgbClr val="FF4757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095847" cy="50292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847" y="0"/>
            <a:ext cx="6095847" cy="50292"/>
          </a:xfrm>
          <a:prstGeom prst="rect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10047" y="0"/>
            <a:ext cx="1371600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0F0FF"/>
                </a:solidFill>
              </a:rPr>
              <a:t>TASK 2 · ADAPTATION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Fine-tune — don't start from scratch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11183112" cy="177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783080"/>
            <a:ext cx="5486400" cy="24688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FF4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783080"/>
            <a:ext cx="54864" cy="2468880"/>
          </a:xfrm>
          <a:prstGeom prst="rect">
            <a:avLst/>
          </a:prstGeom>
          <a:solidFill>
            <a:srgbClr val="FF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1920240"/>
            <a:ext cx="51755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4757"/>
                </a:solidFill>
              </a:rPr>
              <a:t>✖  Training from scratch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2350008"/>
            <a:ext cx="5102352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40–100+ hours of studio audio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Weeks of training on many GPUs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Must relearn how to make sound at all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Overkill for one accent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783080"/>
            <a:ext cx="5486400" cy="24688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1783080"/>
            <a:ext cx="54864" cy="24688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920240"/>
            <a:ext cx="51755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✔  Fine-tuning (our choice)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350008"/>
            <a:ext cx="5102352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Only 3–5 hours of clean Indian audio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4–6 hours on a single GPU (~10–20k steps)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Starts from en_US-lessac-medium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Only shifts accent, pitch &amp; rhythm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526280"/>
            <a:ext cx="11091672" cy="566928"/>
          </a:xfrm>
          <a:prstGeom prst="roundRect">
            <a:avLst>
              <a:gd name="adj" fmla="val 20000"/>
            </a:avLst>
          </a:prstGeom>
          <a:solidFill>
            <a:srgbClr val="002224"/>
          </a:solidFill>
          <a:ln w="12700">
            <a:solidFill>
              <a:srgbClr val="00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106344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Why it works: the vocoder already makes clean audio — we just teach it the Indian accent. Fine-tuning is a gentle nudge, not a rebuild.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Indian English Voice for Piper TTS  ·  CTO Hackathon — Challenge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114800" y="3657600"/>
            <a:ext cx="6400800" cy="6400800"/>
          </a:xfrm>
          <a:prstGeom prst="ellipse">
            <a:avLst/>
          </a:prstGeom>
          <a:solidFill>
            <a:srgbClr val="00F0FF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2743200"/>
            <a:ext cx="5486400" cy="5486400"/>
          </a:xfrm>
          <a:prstGeom prst="ellipse">
            <a:avLst/>
          </a:prstGeom>
          <a:solidFill>
            <a:srgbClr val="7000FF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5029200"/>
            <a:ext cx="4572000" cy="4572000"/>
          </a:xfrm>
          <a:prstGeom prst="ellipse">
            <a:avLst/>
          </a:prstGeom>
          <a:solidFill>
            <a:srgbClr val="FF4757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095847" cy="50292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847" y="0"/>
            <a:ext cx="6095847" cy="50292"/>
          </a:xfrm>
          <a:prstGeom prst="rect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10047" y="0"/>
            <a:ext cx="1371600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0F0FF"/>
                </a:solidFill>
              </a:rPr>
              <a:t>TASK 3 · TRAINING SETTINGS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The knobs that matter — and why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11183112" cy="177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783080"/>
            <a:ext cx="11183112" cy="566928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783080"/>
            <a:ext cx="2834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Learning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783080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00F0FF"/>
                </a:solidFill>
              </a:rPr>
              <a:t>2 × 10⁻⁴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178308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How big each step is — too high wrecks the voice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441448"/>
            <a:ext cx="11183112" cy="566928"/>
          </a:xfrm>
          <a:prstGeom prst="roundRect">
            <a:avLst>
              <a:gd name="adj" fmla="val 6000"/>
            </a:avLst>
          </a:prstGeom>
          <a:solidFill>
            <a:srgbClr val="0D131F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441448"/>
            <a:ext cx="2834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Batch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441448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00F0FF"/>
                </a:solidFill>
              </a:rPr>
              <a:t>16 – 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2441448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Samples per step — balances speed vs memory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099816"/>
            <a:ext cx="11183112" cy="566928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099816"/>
            <a:ext cx="2834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LR decay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099816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00F0FF"/>
                </a:solidFill>
              </a:rPr>
              <a:t>0.9998 / epoch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099816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Slows down near the finish to avoid overshoot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758184"/>
            <a:ext cx="11183112" cy="566928"/>
          </a:xfrm>
          <a:prstGeom prst="roundRect">
            <a:avLst>
              <a:gd name="adj" fmla="val 6000"/>
            </a:avLst>
          </a:prstGeom>
          <a:solidFill>
            <a:srgbClr val="0D131F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758184"/>
            <a:ext cx="2834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Grad clip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758184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00F0FF"/>
                </a:solidFill>
              </a:rPr>
              <a:t>1.0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3758184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Caps updates — keeps VITS training stable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416552"/>
            <a:ext cx="11183112" cy="566928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416552"/>
            <a:ext cx="2834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Warmup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416552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00F0FF"/>
                </a:solidFill>
              </a:rPr>
              <a:t>~1,000 steps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4416552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Eases in gently, protecting the pre-trained model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074920"/>
            <a:ext cx="11183112" cy="566928"/>
          </a:xfrm>
          <a:prstGeom prst="roundRect">
            <a:avLst>
              <a:gd name="adj" fmla="val 6000"/>
            </a:avLst>
          </a:prstGeom>
          <a:solidFill>
            <a:srgbClr val="0D131F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074920"/>
            <a:ext cx="2834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Fine-tune steps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5074920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00F0FF"/>
                </a:solidFill>
              </a:rPr>
              <a:t>10k – 20k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5074920"/>
            <a:ext cx="5669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Enough to adapt, not enough to overfit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943600"/>
            <a:ext cx="11091672" cy="566928"/>
          </a:xfrm>
          <a:prstGeom prst="roundRect">
            <a:avLst>
              <a:gd name="adj" fmla="val 20000"/>
            </a:avLst>
          </a:prstGeom>
          <a:solidFill>
            <a:srgbClr val="071E15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943600"/>
            <a:ext cx="106344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The theme: a gentle nudge that PRESERVES the strong pre-trained model.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Indian English Voice for Piper TTS  ·  CTO Hackathon — Challenge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114800" y="3657600"/>
            <a:ext cx="6400800" cy="6400800"/>
          </a:xfrm>
          <a:prstGeom prst="ellipse">
            <a:avLst/>
          </a:prstGeom>
          <a:solidFill>
            <a:srgbClr val="00F0FF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2743200"/>
            <a:ext cx="5486400" cy="5486400"/>
          </a:xfrm>
          <a:prstGeom prst="ellipse">
            <a:avLst/>
          </a:prstGeom>
          <a:solidFill>
            <a:srgbClr val="7000FF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5029200"/>
            <a:ext cx="4572000" cy="4572000"/>
          </a:xfrm>
          <a:prstGeom prst="ellipse">
            <a:avLst/>
          </a:prstGeom>
          <a:solidFill>
            <a:srgbClr val="FF4757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095847" cy="50292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847" y="0"/>
            <a:ext cx="6095847" cy="50292"/>
          </a:xfrm>
          <a:prstGeom prst="rect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10047" y="0"/>
            <a:ext cx="1371600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0F0FF"/>
                </a:solidFill>
              </a:rPr>
              <a:t>TASK 3 · MEASURING SUCCESS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How we know the voice is good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11183112" cy="177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783080"/>
            <a:ext cx="5486400" cy="31089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00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783080"/>
            <a:ext cx="54864" cy="310896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1920240"/>
            <a:ext cx="51755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F0FF"/>
                </a:solidFill>
              </a:rPr>
              <a:t>Objective  (automatic)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2350008"/>
            <a:ext cx="5102352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0F0FF"/>
                </a:solidFill>
              </a:rPr>
              <a:t>•  WER &lt; 5%  </a:t>
            </a:r>
            <a:r>
              <a:rPr sz="1050">
                <a:solidFill>
                  <a:srgbClr val="94A3B8"/>
                </a:solidFill>
              </a:rPr>
              <a:t>— clarity: transcribe it back, count errors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0F0FF"/>
                </a:solidFill>
              </a:rPr>
              <a:t>•  MCD &lt; 3.0  </a:t>
            </a:r>
            <a:r>
              <a:rPr sz="1050">
                <a:solidFill>
                  <a:srgbClr val="94A3B8"/>
                </a:solidFill>
              </a:rPr>
              <a:t>— similarity to the real voice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Cheap, repeatable — great as a training gate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783080"/>
            <a:ext cx="5486400" cy="31089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1783080"/>
            <a:ext cx="54864" cy="31089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920240"/>
            <a:ext cx="51755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Subjective  (humans)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350008"/>
            <a:ext cx="5102352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8B5CF6"/>
                </a:solidFill>
              </a:rPr>
              <a:t>•  MOS 1–5  </a:t>
            </a:r>
            <a:r>
              <a:rPr sz="1050">
                <a:solidFill>
                  <a:srgbClr val="94A3B8"/>
                </a:solidFill>
              </a:rPr>
              <a:t>— people rate it out of 5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Intelligibility · Naturalness · Accent authenticity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8B5CF6"/>
                </a:solidFill>
              </a:rPr>
              <a:t>•  A/B test  </a:t>
            </a:r>
            <a:r>
              <a:rPr sz="1050">
                <a:solidFill>
                  <a:srgbClr val="94A3B8"/>
                </a:solidFill>
              </a:rPr>
              <a:t>— base model vs fine-tuned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74920"/>
            <a:ext cx="11091672" cy="566928"/>
          </a:xfrm>
          <a:prstGeom prst="roundRect">
            <a:avLst>
              <a:gd name="adj" fmla="val 20000"/>
            </a:avLst>
          </a:prstGeom>
          <a:solidFill>
            <a:srgbClr val="231B05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074920"/>
            <a:ext cx="106344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Numbers gate the training; humans have the final word — a voice can score well yet still sound foreign, and only listeners catch that.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Indian English Voice for Piper TTS  ·  CTO Hackathon — Challenge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114800" y="3657600"/>
            <a:ext cx="6400800" cy="6400800"/>
          </a:xfrm>
          <a:prstGeom prst="ellipse">
            <a:avLst/>
          </a:prstGeom>
          <a:solidFill>
            <a:srgbClr val="00F0FF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2743200"/>
            <a:ext cx="5486400" cy="5486400"/>
          </a:xfrm>
          <a:prstGeom prst="ellipse">
            <a:avLst/>
          </a:prstGeom>
          <a:solidFill>
            <a:srgbClr val="7000FF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5029200"/>
            <a:ext cx="4572000" cy="4572000"/>
          </a:xfrm>
          <a:prstGeom prst="ellipse">
            <a:avLst/>
          </a:prstGeom>
          <a:solidFill>
            <a:srgbClr val="FF4757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095847" cy="50292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847" y="0"/>
            <a:ext cx="6095847" cy="50292"/>
          </a:xfrm>
          <a:prstGeom prst="rect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10047" y="0"/>
            <a:ext cx="1371600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0F0FF"/>
                </a:solidFill>
              </a:rPr>
              <a:t>TASK 4 ·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Runs 100% in the browser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11183112" cy="177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828800"/>
            <a:ext cx="2430018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56816"/>
            <a:ext cx="23385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INT8 ONNX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340864"/>
            <a:ext cx="233857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FBBF24"/>
                </a:solidFill>
              </a:rPr>
              <a:t>~15–18 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8658" y="1828800"/>
            <a:ext cx="457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5858" y="1828800"/>
            <a:ext cx="2430018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5875">
            <a:solidFill>
              <a:srgbClr val="00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81578" y="1956816"/>
            <a:ext cx="23385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ONNX Runtime Web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1578" y="2340864"/>
            <a:ext cx="233857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00F0FF"/>
                </a:solidFill>
              </a:rPr>
              <a:t>WASM + SIMD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5876" y="1828800"/>
            <a:ext cx="457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3076" y="1828800"/>
            <a:ext cx="2430018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8796" y="1956816"/>
            <a:ext cx="23385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Web Worker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8796" y="2340864"/>
            <a:ext cx="233857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8B5CF6"/>
                </a:solidFill>
              </a:rPr>
              <a:t>off the UI thread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3094" y="1828800"/>
            <a:ext cx="457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10294" y="1828800"/>
            <a:ext cx="2430018" cy="9144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6014" y="1956816"/>
            <a:ext cx="23385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Web Audio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6014" y="2340864"/>
            <a:ext cx="233857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34D399"/>
                </a:solidFill>
              </a:rPr>
              <a:t>&lt; 150 ms to sound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154680"/>
            <a:ext cx="3611880" cy="17830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3154680"/>
            <a:ext cx="54864" cy="17830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" y="3291840"/>
            <a:ext cx="33009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Small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3721608"/>
            <a:ext cx="322783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INT8 makes the model ~70% smaller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Downloads fast, low memory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88536" y="3154680"/>
            <a:ext cx="3611880" cy="17830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00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88536" y="3154680"/>
            <a:ext cx="54864" cy="178308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07992" y="3291840"/>
            <a:ext cx="33009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F0FF"/>
                </a:solidFill>
              </a:rPr>
              <a:t>Fast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07992" y="3721608"/>
            <a:ext cx="322783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SIMD + threads accelerate it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Faster than real time (RTF &lt; 1)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74152" y="3154680"/>
            <a:ext cx="3611880" cy="17830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74152" y="3154680"/>
            <a:ext cx="54864" cy="17830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93608" y="3291840"/>
            <a:ext cx="33009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Smooth &amp; offline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93608" y="3721608"/>
            <a:ext cx="322783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Web Worker keeps the UI responsive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Cached in IndexedDB after first load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166360"/>
            <a:ext cx="11091672" cy="566928"/>
          </a:xfrm>
          <a:prstGeom prst="roundRect">
            <a:avLst>
              <a:gd name="adj" fmla="val 20000"/>
            </a:avLst>
          </a:prstGeom>
          <a:solidFill>
            <a:srgbClr val="130D23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166360"/>
            <a:ext cx="106344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 server, no round-trip, no privacy concern — the whole voice lives in the browser tab.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Indian English Voice for Piper TTS  ·  CTO Hackathon — Challenge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114800" y="3657600"/>
            <a:ext cx="6400800" cy="6400800"/>
          </a:xfrm>
          <a:prstGeom prst="ellipse">
            <a:avLst/>
          </a:prstGeom>
          <a:solidFill>
            <a:srgbClr val="00F0FF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2743200"/>
            <a:ext cx="5486400" cy="5486400"/>
          </a:xfrm>
          <a:prstGeom prst="ellipse">
            <a:avLst/>
          </a:prstGeom>
          <a:solidFill>
            <a:srgbClr val="7000FF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5029200"/>
            <a:ext cx="4572000" cy="4572000"/>
          </a:xfrm>
          <a:prstGeom prst="ellipse">
            <a:avLst/>
          </a:prstGeom>
          <a:solidFill>
            <a:srgbClr val="FF4757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095847" cy="50292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847" y="0"/>
            <a:ext cx="6095847" cy="50292"/>
          </a:xfrm>
          <a:prstGeom prst="rect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10047" y="0"/>
            <a:ext cx="1371600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0F0FF"/>
                </a:solidFill>
              </a:rPr>
              <a:t>TRADE-OFFS &amp;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What we watch for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11183112" cy="177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78308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00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783080"/>
            <a:ext cx="54864" cy="1828800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1920240"/>
            <a:ext cx="51755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F0FF"/>
                </a:solidFill>
              </a:rPr>
              <a:t>Quality vs latency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2350008"/>
            <a:ext cx="510235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Ship Medium (22 kHz) by default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Auto-fallback to Low (16 kHz) on weak devices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78308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1783080"/>
            <a:ext cx="54864" cy="1828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920240"/>
            <a:ext cx="51755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Accent drift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350008"/>
            <a:ext cx="510235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Model can slip back toward US sounds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Fix: a balanced training set + A/B checks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49039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749039"/>
            <a:ext cx="54864" cy="18288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" y="3886199"/>
            <a:ext cx="51755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Code-mixed words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4315967"/>
            <a:ext cx="510235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“Aadhaar”, “crore”, names like “Goutam”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Fix: a custom loanword dictionary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3749039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FF4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9632" y="3749039"/>
            <a:ext cx="54864" cy="1828800"/>
          </a:xfrm>
          <a:prstGeom prst="rect">
            <a:avLst/>
          </a:prstGeom>
          <a:solidFill>
            <a:srgbClr val="FF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3886199"/>
            <a:ext cx="51755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4757"/>
                </a:solidFill>
              </a:rPr>
              <a:t>Train = Inference  (the subtle one)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4315967"/>
            <a:ext cx="510235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Browser must use the SAME eSpeak + dictionary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94A3B8"/>
                </a:solidFill>
              </a:rPr>
              <a:t>•  Mismatch → garbled speech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Indian English Voice for Piper TTS  ·  CTO Hackathon — Challenge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114800" y="3657600"/>
            <a:ext cx="6400800" cy="6400800"/>
          </a:xfrm>
          <a:prstGeom prst="ellipse">
            <a:avLst/>
          </a:prstGeom>
          <a:solidFill>
            <a:srgbClr val="00F0FF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2743200"/>
            <a:ext cx="5486400" cy="5486400"/>
          </a:xfrm>
          <a:prstGeom prst="ellipse">
            <a:avLst/>
          </a:prstGeom>
          <a:solidFill>
            <a:srgbClr val="7000FF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5029200"/>
            <a:ext cx="4572000" cy="4572000"/>
          </a:xfrm>
          <a:prstGeom prst="ellipse">
            <a:avLst/>
          </a:prstGeom>
          <a:solidFill>
            <a:srgbClr val="FF4757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095847" cy="50292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847" y="0"/>
            <a:ext cx="6095847" cy="50292"/>
          </a:xfrm>
          <a:prstGeom prst="rect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10047" y="0"/>
            <a:ext cx="1371600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4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0F0FF"/>
                </a:solidFill>
              </a:rPr>
              <a:t>FINAL 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The plan, in one 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11183112" cy="177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783080"/>
            <a:ext cx="11183112" cy="585216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783080"/>
            <a:ext cx="54864" cy="58521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83080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34D399"/>
                </a:solidFill>
              </a:rPr>
              <a:t>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1783080"/>
            <a:ext cx="7955279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</a:rPr>
              <a:t>Fine-tune a pre-trained model (not from scratch)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459736"/>
            <a:ext cx="11183112" cy="585216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00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459736"/>
            <a:ext cx="54864" cy="585216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459736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00F0FF"/>
                </a:solidFill>
              </a:rPr>
              <a:t>Base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459736"/>
            <a:ext cx="7955279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</a:rPr>
              <a:t>en_US-lessac-medium — clean, stable vocoder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136392"/>
            <a:ext cx="11183112" cy="585216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136392"/>
            <a:ext cx="54864" cy="5852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136392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8B5CF6"/>
                </a:solidFill>
              </a:rPr>
              <a:t>Phonemizer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136392"/>
            <a:ext cx="7955279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</a:rPr>
              <a:t>Stock en-us (Path A); custom eSpeak optional (Path B)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813048"/>
            <a:ext cx="11183112" cy="585216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813048"/>
            <a:ext cx="54864" cy="5852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813048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BBF24"/>
                </a:solidFill>
              </a:rPr>
              <a:t>Quality tier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813048"/>
            <a:ext cx="7955279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</a:rPr>
              <a:t>Medium (22 kHz) by default, Low fallback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489704"/>
            <a:ext cx="11183112" cy="585216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489704"/>
            <a:ext cx="54864" cy="58521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48970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38BDF8"/>
                </a:solidFill>
              </a:rPr>
              <a:t>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4489704"/>
            <a:ext cx="7955279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</a:rPr>
              <a:t>INT8 ONNX on ONNX Runtime Web, in a Web Worker, cached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166360"/>
            <a:ext cx="11183112" cy="585216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5166360"/>
            <a:ext cx="54864" cy="58521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166360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EC4899"/>
                </a:solidFill>
              </a:rPr>
              <a:t>Validation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5166360"/>
            <a:ext cx="7955279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E2E8F0"/>
                </a:solidFill>
              </a:rPr>
              <a:t>WER &lt; 5%, MCD &lt; 3.0, plus human MOS &amp; A/B tests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475569"/>
                </a:solidFill>
              </a:rPr>
              <a:t>Indian English Voice for Piper TTS  ·  CTO Hackathon — Challenge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51052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475569"/>
                </a:solidFill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114800" y="3657600"/>
            <a:ext cx="6400800" cy="6400800"/>
          </a:xfrm>
          <a:prstGeom prst="ellipse">
            <a:avLst/>
          </a:prstGeom>
          <a:solidFill>
            <a:srgbClr val="00F0FF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2743200"/>
            <a:ext cx="5486400" cy="5486400"/>
          </a:xfrm>
          <a:prstGeom prst="ellipse">
            <a:avLst/>
          </a:prstGeom>
          <a:solidFill>
            <a:srgbClr val="7000FF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5029200"/>
            <a:ext cx="4572000" cy="4572000"/>
          </a:xfrm>
          <a:prstGeom prst="ellipse">
            <a:avLst/>
          </a:prstGeom>
          <a:solidFill>
            <a:srgbClr val="FF4757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095847" cy="50292"/>
          </a:xfrm>
          <a:prstGeom prst="rect">
            <a:avLst/>
          </a:prstGeom>
          <a:solidFill>
            <a:srgbClr val="00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847" y="0"/>
            <a:ext cx="6095847" cy="50292"/>
          </a:xfrm>
          <a:prstGeom prst="rect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10047" y="0"/>
            <a:ext cx="1371600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03601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Indian English, on-device, done right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00F0FF"/>
                </a:solidFill>
              </a:rPr>
              <a:t>eSpeak-ng picks the sounds  ·  a fine-tuned VITS makes them Indian  ·  it all runs in the browser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3790" y="3794760"/>
            <a:ext cx="1874519" cy="11887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3790" y="3950208"/>
            <a:ext cx="187451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34D399"/>
                </a:solidFill>
              </a:rPr>
              <a:t>3–5 hrs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3790" y="4526280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of audio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1189" y="3794760"/>
            <a:ext cx="1874519" cy="11887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00F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1189" y="3950208"/>
            <a:ext cx="187451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00F0FF"/>
                </a:solidFill>
              </a:rPr>
              <a:t>4–6 hrs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1189" y="4526280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to train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58588" y="3794760"/>
            <a:ext cx="1874519" cy="11887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58588" y="3950208"/>
            <a:ext cx="187451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BBF24"/>
                </a:solidFill>
              </a:rPr>
              <a:t>~15 MB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8588" y="4526280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in browser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15987" y="3794760"/>
            <a:ext cx="1874519" cy="11887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15987" y="3950208"/>
            <a:ext cx="187451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8B5CF6"/>
                </a:solidFill>
              </a:rPr>
              <a:t>&lt; 150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15987" y="4526280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to first sound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73386" y="3794760"/>
            <a:ext cx="1874519" cy="11887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73386" y="3950208"/>
            <a:ext cx="187451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EC4899"/>
                </a:solidFill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3386" y="4526280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client-side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8640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E2E8F0"/>
                </a:solidFill>
              </a:rPr>
              <a:t>Thank you  ·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